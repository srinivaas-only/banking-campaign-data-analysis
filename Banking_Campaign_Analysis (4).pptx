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Age Distribution (Client Count)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18-25</c:v>
                  </c:pt>
                  <c:pt idx="1">
                    <c:v>26-30</c:v>
                  </c:pt>
                  <c:pt idx="2">
                    <c:v>31-35</c:v>
                  </c:pt>
                  <c:pt idx="3">
                    <c:v>36-40</c:v>
                  </c:pt>
                  <c:pt idx="4">
                    <c:v>41-45</c:v>
                  </c:pt>
                  <c:pt idx="5">
                    <c:v>46-50</c:v>
                  </c:pt>
                  <c:pt idx="6">
                    <c:v>51-55</c:v>
                  </c:pt>
                  <c:pt idx="7">
                    <c:v>56-60</c:v>
                  </c:pt>
                  <c:pt idx="8">
                    <c:v>61-70</c:v>
                  </c:pt>
                  <c:pt idx="9">
                    <c:v>71+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1336</c:v>
                </c:pt>
                <c:pt idx="1">
                  <c:v>5695</c:v>
                </c:pt>
                <c:pt idx="2">
                  <c:v>9877</c:v>
                </c:pt>
                <c:pt idx="3">
                  <c:v>7810</c:v>
                </c:pt>
                <c:pt idx="4">
                  <c:v>6046</c:v>
                </c:pt>
                <c:pt idx="5">
                  <c:v>5193</c:v>
                </c:pt>
                <c:pt idx="6">
                  <c:v>4356</c:v>
                </c:pt>
                <c:pt idx="7">
                  <c:v>3712</c:v>
                </c:pt>
                <c:pt idx="8">
                  <c:v>702</c:v>
                </c:pt>
                <c:pt idx="9">
                  <c:v>489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Job Type Distribution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Clients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Blue-collar</c:v>
                  </c:pt>
                  <c:pt idx="1">
                    <c:v>Management</c:v>
                  </c:pt>
                  <c:pt idx="2">
                    <c:v>Technician</c:v>
                  </c:pt>
                  <c:pt idx="3">
                    <c:v>Admin.</c:v>
                  </c:pt>
                  <c:pt idx="4">
                    <c:v>Services</c:v>
                  </c:pt>
                  <c:pt idx="5">
                    <c:v>Retired</c:v>
                  </c:pt>
                  <c:pt idx="6">
                    <c:v>Self-emp.</c:v>
                  </c:pt>
                  <c:pt idx="7">
                    <c:v>Entrepreneur</c:v>
                  </c:pt>
                  <c:pt idx="8">
                    <c:v>Unemployed</c:v>
                  </c:pt>
                  <c:pt idx="9">
                    <c:v>Housemaid</c:v>
                  </c:pt>
                  <c:pt idx="10">
                    <c:v>Student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21.5</c:v>
                </c:pt>
                <c:pt idx="1">
                  <c:v>20.9</c:v>
                </c:pt>
                <c:pt idx="2">
                  <c:v>16.8</c:v>
                </c:pt>
                <c:pt idx="3">
                  <c:v>11.4</c:v>
                </c:pt>
                <c:pt idx="4">
                  <c:v>9.2</c:v>
                </c:pt>
                <c:pt idx="5">
                  <c:v>5</c:v>
                </c:pt>
                <c:pt idx="6">
                  <c:v>3.5</c:v>
                </c:pt>
                <c:pt idx="7">
                  <c:v>3.3</c:v>
                </c:pt>
                <c:pt idx="8">
                  <c:v>2.9</c:v>
                </c:pt>
                <c:pt idx="9">
                  <c:v>2.7</c:v>
                </c:pt>
                <c:pt idx="10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Marital Status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Marital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bubble3D val="0"/>
            <c:spPr>
              <a:solidFill>
                <a:srgbClr val="42A5F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Married</c:v>
                </c:pt>
                <c:pt idx="1">
                  <c:v>Single</c:v>
                </c:pt>
                <c:pt idx="2">
                  <c:v>Divorced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60.2</c:v>
                </c:pt>
                <c:pt idx="1">
                  <c:v>28.3</c:v>
                </c:pt>
                <c:pt idx="2">
                  <c:v>11.5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Education Level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Clients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Secondary</c:v>
                  </c:pt>
                  <c:pt idx="1">
                    <c:v>Tertiary</c:v>
                  </c:pt>
                  <c:pt idx="2">
                    <c:v>Primary</c:v>
                  </c:pt>
                  <c:pt idx="3">
                    <c:v>Unknown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51.3</c:v>
                </c:pt>
                <c:pt idx="1">
                  <c:v>29.4</c:v>
                </c:pt>
                <c:pt idx="2">
                  <c:v>15.2</c:v>
                </c:pt>
                <c:pt idx="3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Credit Default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Credit Default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Default</c:v>
                </c:pt>
                <c:pt idx="1">
                  <c:v>In Default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98.2</c:v>
                </c:pt>
                <c:pt idx="1">
                  <c:v>1.8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Loan Distribution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Clients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CAF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DD8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Housing Loan
(Yes)</c:v>
                  </c:pt>
                  <c:pt idx="1">
                    <c:v>Housing Loan
(No)</c:v>
                  </c:pt>
                  <c:pt idx="2">
                    <c:v>Personal Loan
(Yes)</c:v>
                  </c:pt>
                  <c:pt idx="3">
                    <c:v>Personal Loan
(No)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55.6</c:v>
                </c:pt>
                <c:pt idx="1">
                  <c:v>44.4</c:v>
                </c:pt>
                <c:pt idx="2">
                  <c:v>16</c:v>
                </c:pt>
                <c:pt idx="3">
                  <c:v>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Communication Type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Contact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4B"/>
              </a:solidFill>
              <a:effectLst/>
            </c:spPr>
          </c:dPt>
          <c:dPt>
            <c:idx val="1"/>
            <c:bubble3D val="0"/>
            <c:spPr>
              <a:solidFill>
                <a:srgbClr val="8898C4"/>
              </a:solidFill>
              <a:effectLst/>
            </c:spPr>
          </c:dPt>
          <c:dPt>
            <c:idx val="2"/>
            <c:bubble3D val="0"/>
            <c:spPr>
              <a:solidFill>
                <a:srgbClr val="42A5F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Cellular</c:v>
                </c:pt>
                <c:pt idx="1">
                  <c:v>Unknown</c:v>
                </c:pt>
                <c:pt idx="2">
                  <c:v>Telephone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64.8</c:v>
                </c:pt>
                <c:pt idx="1">
                  <c:v>28.8</c:v>
                </c:pt>
                <c:pt idx="2">
                  <c:v>6.4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Contact Volume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Contacts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1403</c:v>
                </c:pt>
                <c:pt idx="1">
                  <c:v>2649</c:v>
                </c:pt>
                <c:pt idx="2">
                  <c:v>477</c:v>
                </c:pt>
                <c:pt idx="3">
                  <c:v>2932</c:v>
                </c:pt>
                <c:pt idx="4">
                  <c:v>13766</c:v>
                </c:pt>
                <c:pt idx="5">
                  <c:v>5341</c:v>
                </c:pt>
                <c:pt idx="6">
                  <c:v>6895</c:v>
                </c:pt>
                <c:pt idx="7">
                  <c:v>6247</c:v>
                </c:pt>
                <c:pt idx="8">
                  <c:v>579</c:v>
                </c:pt>
                <c:pt idx="9">
                  <c:v>738</c:v>
                </c:pt>
                <c:pt idx="10">
                  <c:v>3975</c:v>
                </c:pt>
                <c:pt idx="11">
                  <c:v>214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Current Campaign Contacts per Client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Clients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contact</c:v>
                  </c:pt>
                  <c:pt idx="1">
                    <c:v>2 contacts</c:v>
                  </c:pt>
                  <c:pt idx="2">
                    <c:v>3 contacts</c:v>
                  </c:pt>
                  <c:pt idx="3">
                    <c:v>4 contacts</c:v>
                  </c:pt>
                  <c:pt idx="4">
                    <c:v>5 contacts</c:v>
                  </c:pt>
                  <c:pt idx="5">
                    <c:v>6+ contacts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38.8</c:v>
                </c:pt>
                <c:pt idx="1">
                  <c:v>27.7</c:v>
                </c:pt>
                <c:pt idx="2">
                  <c:v>12.2</c:v>
                </c:pt>
                <c:pt idx="3">
                  <c:v>7.8</c:v>
                </c:pt>
                <c:pt idx="4">
                  <c:v>3.9</c:v>
                </c:pt>
                <c:pt idx="5">
                  <c:v>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Previous Campaign Outcome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 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98C4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Unknown</c:v>
                </c:pt>
                <c:pt idx="1">
                  <c:v>Failure</c:v>
                </c:pt>
                <c:pt idx="2">
                  <c:v>Other</c:v>
                </c:pt>
                <c:pt idx="3">
                  <c:v>Success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81.7</c:v>
                </c:pt>
                <c:pt idx="1">
                  <c:v>10.8</c:v>
                </c:pt>
                <c:pt idx="2">
                  <c:v>4.1</c:v>
                </c:pt>
                <c:pt idx="3">
                  <c:v>3.3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Feature Correlation with Term Deposit Subscription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Subscription (y)</c:v>
                </c:pt>
              </c:strCache>
            </c:strRef>
          </c:tx>
          <c:spPr>
            <a:solidFill>
              <a:srgbClr val="0D1B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duration</c:v>
                  </c:pt>
                  <c:pt idx="1">
                    <c:v>pdays</c:v>
                  </c:pt>
                  <c:pt idx="2">
                    <c:v>previous</c:v>
                  </c:pt>
                  <c:pt idx="3">
                    <c:v>balance</c:v>
                  </c:pt>
                  <c:pt idx="4">
                    <c:v>age</c:v>
                  </c:pt>
                  <c:pt idx="5">
                    <c:v>day</c:v>
                  </c:pt>
                  <c:pt idx="6">
                    <c:v>campaign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0.394</c:v>
                </c:pt>
                <c:pt idx="1">
                  <c:v>0.104</c:v>
                </c:pt>
                <c:pt idx="2">
                  <c:v>0.094</c:v>
                </c:pt>
                <c:pt idx="3">
                  <c:v>0.053</c:v>
                </c:pt>
                <c:pt idx="4">
                  <c:v>0.026</c:v>
                </c:pt>
                <c:pt idx="5">
                  <c:v>-0.028</c:v>
                </c:pt>
                <c:pt idx="6">
                  <c:v>-0.073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-548640"/>
            <a:ext cx="2286000" cy="2286000"/>
          </a:xfrm>
          <a:prstGeom prst="ellipse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PORTUGUESE BANKING INSTITUTION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 Campaign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client demographics, campaign behaviour, and subscription insights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Portuguese bank's direct marketing telemarketing dataset.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617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45,211 Clients  •  18 Features  •  May 2008 – Nov 2010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background and campaign context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2412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Demographics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761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 type, marital status &amp; education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7472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47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Balances, credit default, and loan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9728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170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Strategy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 &amp; contact timing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59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13248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Performance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13248" y="2761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frequency &amp; prior campaign history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74720"/>
            <a:ext cx="64008" cy="10058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5478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13248" y="3566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13248" y="3950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subscription rate &amp; conclusions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Portuguese bank ran a series of direct telemarketing campaigns to get clients to subscribe to a term deposit. This analysis explores the dataset to uncover patterns in client behaviour and campaign effectiveness.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35040" y="1051560"/>
            <a:ext cx="2834640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0" y="10789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45,211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7220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Clients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2011680"/>
            <a:ext cx="2834640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20391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7220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971800"/>
            <a:ext cx="2834640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29992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931920"/>
            <a:ext cx="2834640" cy="80467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39593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2008–2010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Period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5394960" cy="114300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920240"/>
            <a:ext cx="64008" cy="1143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984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2677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dataset to understand which client segments were targeted, how the campaign was conducted, and what factors correlate with a client's likelihood of subscribing to a term deposit.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 Analysed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age, job, marital, education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balance, default, housing, loan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0" y="35661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contact, day, month, duration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858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campaign, pdays, previous, poutcome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48840" y="385876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y (target: subscribed?)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DEMOGRAPHICS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&amp; Job Profile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371600" cy="8229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1371600" cy="8229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92024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051560"/>
            <a:ext cx="1371600" cy="8229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</a:t>
            </a:r>
            <a:endParaRPr lang="en-US" sz="9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365760" y="1920240"/>
          <a:ext cx="4389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937760" y="1051560"/>
          <a:ext cx="39319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365760" y="4617720"/>
            <a:ext cx="4389120" cy="4114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6451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Middle-aged (30–50) professionals dominate the target audience.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DEMOGRAPHICS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&amp; Education Level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058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572000" y="100584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389120"/>
            <a:ext cx="4023360" cy="5943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60.2% — Married clients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4389120"/>
            <a:ext cx="4023360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9204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51.3% — Secondary educated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PROFILE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Credit Default &amp; Loans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€-8,019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Balance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€1,362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1460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Balance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€448.5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1228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€102,127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Balance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901952"/>
            <a:ext cx="850392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9385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Highly right-skewed: median (€448) &lt;&lt; mean (€1,362) — a few wealthy outliers pull the average up significantly.</a:t>
            </a:r>
            <a:endParaRPr lang="en-US" sz="9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377440"/>
          <a:ext cx="39319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572000" y="237744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STRATEGY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 &amp; Contact Timing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05840"/>
          <a:ext cx="36576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206240" y="1005840"/>
          <a:ext cx="4663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977640"/>
            <a:ext cx="2743200" cy="9875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75488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64.8%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5488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contacts via cellular (mobile)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73552" y="3977640"/>
            <a:ext cx="2743200" cy="9875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383280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MAY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83280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peak campaign month — 13,766 contacts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81344" y="3977640"/>
            <a:ext cx="2743200" cy="98755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91072" y="400507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❄️ DEC/JAN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291072" y="44256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near-dead months for the campaign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 PERFORMANCE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Frequency &amp; Prior Campaign History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6596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258.2s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12280" y="1051560"/>
            <a:ext cx="1965960" cy="77724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0789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4,918s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153619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</a:t>
            </a:r>
            <a:endParaRPr lang="en-US" sz="8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365760" y="19202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Chart 1" descr=""/>
          <p:cNvGraphicFramePr/>
          <p:nvPr/>
        </p:nvGraphicFramePr>
        <p:xfrm>
          <a:off x="4846320" y="192024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&amp; Subscription Rate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10972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651760" y="1143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to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109728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97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88.3%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949440" y="11430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889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65760" y="2331720"/>
          <a:ext cx="85039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4114800" cy="4114800"/>
          </a:xfrm>
          <a:prstGeom prst="ellipse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8229600" cy="621792"/>
          </a:xfrm>
          <a:prstGeom prst="rect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Audience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46304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 (30–50), married, blue-collar / management professionals are the primary targets.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8229600" cy="621792"/>
          </a:xfrm>
          <a:prstGeom prst="rect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39696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85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 Duration Matters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218541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has the strongest positive correlation (0.394) with subscription — longer calls = higher success.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8229600" cy="621792"/>
          </a:xfrm>
          <a:prstGeom prst="rect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62072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07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Campaign Timing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290779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dominates campaign activity. Cellular phones are the dominant communication channel (64.8%).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84448"/>
            <a:ext cx="8229600" cy="621792"/>
          </a:xfrm>
          <a:prstGeom prst="rect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84448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01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Imbalanced Outcomes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363016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11.7% subscribed, making this a class-imbalance problem important for predictive modelling.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306824"/>
            <a:ext cx="8229600" cy="621792"/>
          </a:xfrm>
          <a:prstGeom prst="rect">
            <a:avLst/>
          </a:prstGeom>
          <a:solidFill>
            <a:srgbClr val="162660"/>
          </a:solidFill>
          <a:ln w="12700">
            <a:solidFill>
              <a:srgbClr val="1626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306824"/>
            <a:ext cx="64008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525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Mostly New Leads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63240" y="435254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8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80% of clients had no prior contact history — most were fresh leads with unknown prior outcome.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System Analysis</dc:title>
  <dc:subject>PptxGenJS Presentation</dc:subject>
  <dc:creator>Banking Campaign Analysis</dc:creator>
  <cp:lastModifiedBy>Banking Campaign Analysis</cp:lastModifiedBy>
  <cp:revision>1</cp:revision>
  <dcterms:created xsi:type="dcterms:W3CDTF">2026-03-29T07:49:32Z</dcterms:created>
  <dcterms:modified xsi:type="dcterms:W3CDTF">2026-03-29T07:49:32Z</dcterms:modified>
</cp:coreProperties>
</file>